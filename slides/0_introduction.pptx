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"/>
  </p:notesMasterIdLst>
  <p:sldIdLst>
    <p:sldId id="256" r:id="rId2"/>
    <p:sldId id="276" r:id="rId3"/>
    <p:sldId id="259" r:id="rId4"/>
    <p:sldId id="277" r:id="rId5"/>
    <p:sldId id="275" r:id="rId6"/>
    <p:sldId id="265" r:id="rId7"/>
    <p:sldId id="269" r:id="rId8"/>
    <p:sldId id="270" r:id="rId9"/>
    <p:sldId id="271" r:id="rId10"/>
    <p:sldId id="272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028" autoAdjust="0"/>
  </p:normalViewPr>
  <p:slideViewPr>
    <p:cSldViewPr snapToGrid="0">
      <p:cViewPr varScale="1">
        <p:scale>
          <a:sx n="127" d="100"/>
          <a:sy n="127" d="100"/>
        </p:scale>
        <p:origin x="536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11/08/2026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C76E5F-9D68-4973-8A2A-59949176DA9A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31405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11/08/2026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11/08/2026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11/08/2026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11/08/2026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11/08/2026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11/08/2026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7" Type="http://schemas.openxmlformats.org/officeDocument/2006/relationships/image" Target="../media/image8.jp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png"/><Relationship Id="rId5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cs/python/environments" TargetMode="External"/><Relationship Id="rId2" Type="http://schemas.openxmlformats.org/officeDocument/2006/relationships/hyperlink" Target="https://docs.python.org/3/tutorial/venv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lab.research.google.com/" TargetMode="External"/><Relationship Id="rId4" Type="http://schemas.openxmlformats.org/officeDocument/2006/relationships/hyperlink" Target="https://code.visualstudio.com/docs/datascience/jupyter-notebooks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eeplearningbook.org/" TargetMode="External"/><Relationship Id="rId2" Type="http://schemas.openxmlformats.org/officeDocument/2006/relationships/hyperlink" Target="https://szeliski.org/Book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udlbook.github.io/udlbook/" TargetMode="External"/><Relationship Id="rId4" Type="http://schemas.openxmlformats.org/officeDocument/2006/relationships/hyperlink" Target="https://fleuret.org/public/lbdl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Computer Vision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7615242-9AE4-EA1E-7DFA-9BD7D9F6C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Goal of Computer Vision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12D6020-0298-0BE4-47C3-5CABE12098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b="1" dirty="0"/>
              <a:t>extract semantic information from digital image data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to be used for decision making support or automated systems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807719-B5C6-E0AE-4F7D-D21E5E34B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8C551-A1C9-DC8A-B8E3-C77D4B79702A}"/>
              </a:ext>
            </a:extLst>
          </p:cNvPr>
          <p:cNvSpPr txBox="1"/>
          <p:nvPr/>
        </p:nvSpPr>
        <p:spPr>
          <a:xfrm>
            <a:off x="431800" y="3421100"/>
            <a:ext cx="43095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challenging problem:</a:t>
            </a:r>
          </a:p>
          <a:p>
            <a:r>
              <a:rPr lang="en-GB" sz="2400" dirty="0"/>
              <a:t>images are only 2D projections of the 3D world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15A32DF-0206-1374-CB3A-BB64F9900A36}"/>
              </a:ext>
            </a:extLst>
          </p:cNvPr>
          <p:cNvGrpSpPr/>
          <p:nvPr/>
        </p:nvGrpSpPr>
        <p:grpSpPr>
          <a:xfrm>
            <a:off x="5113864" y="3064890"/>
            <a:ext cx="6553200" cy="2621006"/>
            <a:chOff x="4597400" y="3555957"/>
            <a:chExt cx="6553200" cy="2621006"/>
          </a:xfrm>
        </p:grpSpPr>
        <p:pic>
          <p:nvPicPr>
            <p:cNvPr id="8" name="Picture 7" descr="A house with trees and a fence&#10;&#10;AI-generated content may be incorrect.">
              <a:extLst>
                <a:ext uri="{FF2B5EF4-FFF2-40B4-BE49-F238E27FC236}">
                  <a16:creationId xmlns:a16="http://schemas.microsoft.com/office/drawing/2014/main" id="{630D5ACC-07B6-E15A-2AFC-6C8D2A115D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41333" y="3555957"/>
              <a:ext cx="4155253" cy="2621006"/>
            </a:xfrm>
            <a:prstGeom prst="rect">
              <a:avLst/>
            </a:prstGeom>
          </p:spPr>
        </p:pic>
        <p:pic>
          <p:nvPicPr>
            <p:cNvPr id="9" name="Picture 8" descr="A pixelated image of a house and trees&#10;&#10;AI-generated content may be incorrect.">
              <a:extLst>
                <a:ext uri="{FF2B5EF4-FFF2-40B4-BE49-F238E27FC236}">
                  <a16:creationId xmlns:a16="http://schemas.microsoft.com/office/drawing/2014/main" id="{C9D33BEF-FB7D-B9F7-A787-A93DCED7F4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11057" y="3598292"/>
              <a:ext cx="2339543" cy="2202371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163080B-79BB-7430-1C6A-62E550019AB1}"/>
                </a:ext>
              </a:extLst>
            </p:cNvPr>
            <p:cNvSpPr/>
            <p:nvPr/>
          </p:nvSpPr>
          <p:spPr>
            <a:xfrm>
              <a:off x="4597400" y="5596467"/>
              <a:ext cx="601133" cy="279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A3BF2A3-6601-464F-C9EE-6DF127F9F342}"/>
                </a:ext>
              </a:extLst>
            </p:cNvPr>
            <p:cNvSpPr/>
            <p:nvPr/>
          </p:nvSpPr>
          <p:spPr>
            <a:xfrm>
              <a:off x="4707465" y="4271411"/>
              <a:ext cx="406400" cy="279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893DC2C-56DC-5B2E-E151-4626E379E308}"/>
                </a:ext>
              </a:extLst>
            </p:cNvPr>
            <p:cNvSpPr/>
            <p:nvPr/>
          </p:nvSpPr>
          <p:spPr>
            <a:xfrm>
              <a:off x="10489769" y="5663640"/>
              <a:ext cx="601133" cy="279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0751BC5-AB20-D564-3586-5CEBF074792C}"/>
                </a:ext>
              </a:extLst>
            </p:cNvPr>
            <p:cNvSpPr/>
            <p:nvPr/>
          </p:nvSpPr>
          <p:spPr>
            <a:xfrm>
              <a:off x="10545955" y="3903929"/>
              <a:ext cx="601133" cy="279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52E64D75-8728-3AAC-AFF7-2D77C7B99350}"/>
              </a:ext>
            </a:extLst>
          </p:cNvPr>
          <p:cNvSpPr txBox="1"/>
          <p:nvPr/>
        </p:nvSpPr>
        <p:spPr>
          <a:xfrm>
            <a:off x="838200" y="6104253"/>
            <a:ext cx="102242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000" dirty="0"/>
              <a:t>nowadays heavily powered by artificial intelligence (AI), especially machine learning (ML)</a:t>
            </a:r>
          </a:p>
        </p:txBody>
      </p:sp>
    </p:spTree>
    <p:extLst>
      <p:ext uri="{BB962C8B-B14F-4D97-AF65-F5344CB8AC3E}">
        <p14:creationId xmlns:p14="http://schemas.microsoft.com/office/powerpoint/2010/main" val="14214522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A2E5C-5FD4-F085-4DAA-7404FBAAA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Applications of Computer 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226E71-3908-2652-F640-7EB52307F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  <p:pic>
        <p:nvPicPr>
          <p:cNvPr id="6" name="Picture 5" descr="A white car on the road&#10;&#10;Description automatically generated">
            <a:extLst>
              <a:ext uri="{FF2B5EF4-FFF2-40B4-BE49-F238E27FC236}">
                <a16:creationId xmlns:a16="http://schemas.microsoft.com/office/drawing/2014/main" id="{19BA1782-7EE8-F99B-2548-C0F38F389A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9000" y="1566333"/>
            <a:ext cx="2946400" cy="2209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36AB807-6727-9B83-D4CF-E3479A494216}"/>
              </a:ext>
            </a:extLst>
          </p:cNvPr>
          <p:cNvSpPr txBox="1"/>
          <p:nvPr/>
        </p:nvSpPr>
        <p:spPr>
          <a:xfrm>
            <a:off x="8509000" y="1166223"/>
            <a:ext cx="23827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autonomous driving</a:t>
            </a:r>
          </a:p>
        </p:txBody>
      </p:sp>
      <p:pic>
        <p:nvPicPr>
          <p:cNvPr id="9" name="Picture 8" descr="A mri of a brain&#10;&#10;Description automatically generated">
            <a:extLst>
              <a:ext uri="{FF2B5EF4-FFF2-40B4-BE49-F238E27FC236}">
                <a16:creationId xmlns:a16="http://schemas.microsoft.com/office/drawing/2014/main" id="{E3357C2E-B26A-9C49-DBE1-015C1415F3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468" y="4469349"/>
            <a:ext cx="2239428" cy="22098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8E7933F-1A90-C3D6-C001-D0E231B6A969}"/>
              </a:ext>
            </a:extLst>
          </p:cNvPr>
          <p:cNvSpPr txBox="1"/>
          <p:nvPr/>
        </p:nvSpPr>
        <p:spPr>
          <a:xfrm>
            <a:off x="770468" y="4069239"/>
            <a:ext cx="19993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medical imaging</a:t>
            </a:r>
          </a:p>
        </p:txBody>
      </p:sp>
      <p:pic>
        <p:nvPicPr>
          <p:cNvPr id="12" name="Picture 11" descr="A screenshot of a video game&#10;&#10;Description automatically generated">
            <a:extLst>
              <a:ext uri="{FF2B5EF4-FFF2-40B4-BE49-F238E27FC236}">
                <a16:creationId xmlns:a16="http://schemas.microsoft.com/office/drawing/2014/main" id="{A4B99917-C668-6B2D-EC29-F296331AB9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3656" y="4657352"/>
            <a:ext cx="2749701" cy="148060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CFB9787-2BDA-CD0A-240F-9E4A0BAC2F5E}"/>
              </a:ext>
            </a:extLst>
          </p:cNvPr>
          <p:cNvSpPr txBox="1"/>
          <p:nvPr/>
        </p:nvSpPr>
        <p:spPr>
          <a:xfrm>
            <a:off x="6973656" y="4250959"/>
            <a:ext cx="21771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augmented reality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C6A32E-7E9F-E355-D29F-7FACE2405205}"/>
              </a:ext>
            </a:extLst>
          </p:cNvPr>
          <p:cNvSpPr txBox="1"/>
          <p:nvPr/>
        </p:nvSpPr>
        <p:spPr>
          <a:xfrm>
            <a:off x="10030831" y="5956240"/>
            <a:ext cx="21611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and many more …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BD4130-B522-DCBE-FC04-6AFC233688F1}"/>
              </a:ext>
            </a:extLst>
          </p:cNvPr>
          <p:cNvSpPr txBox="1"/>
          <p:nvPr/>
        </p:nvSpPr>
        <p:spPr>
          <a:xfrm>
            <a:off x="4466118" y="1617767"/>
            <a:ext cx="26196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automated inspection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0CE8A3-33D7-D6D6-CD3C-20504999BEE0}"/>
              </a:ext>
            </a:extLst>
          </p:cNvPr>
          <p:cNvSpPr txBox="1"/>
          <p:nvPr/>
        </p:nvSpPr>
        <p:spPr>
          <a:xfrm>
            <a:off x="431801" y="1624749"/>
            <a:ext cx="20918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facial recognition</a:t>
            </a:r>
          </a:p>
        </p:txBody>
      </p:sp>
      <p:pic>
        <p:nvPicPr>
          <p:cNvPr id="18" name="Picture 17" descr="A person and person talking to each other&#10;&#10;Description automatically generated">
            <a:extLst>
              <a:ext uri="{FF2B5EF4-FFF2-40B4-BE49-F238E27FC236}">
                <a16:creationId xmlns:a16="http://schemas.microsoft.com/office/drawing/2014/main" id="{181E8360-0E49-9110-BF51-865530C7F9A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801" y="2021871"/>
            <a:ext cx="2578095" cy="1718730"/>
          </a:xfrm>
          <a:prstGeom prst="rect">
            <a:avLst/>
          </a:prstGeom>
        </p:spPr>
      </p:pic>
      <p:pic>
        <p:nvPicPr>
          <p:cNvPr id="20" name="Picture 19" descr="A person standing next to a machine&#10;&#10;Description automatically generated">
            <a:extLst>
              <a:ext uri="{FF2B5EF4-FFF2-40B4-BE49-F238E27FC236}">
                <a16:creationId xmlns:a16="http://schemas.microsoft.com/office/drawing/2014/main" id="{7A5F502A-31FA-3F40-325E-1ED06D842D2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6239" y="2021018"/>
            <a:ext cx="2661523" cy="132556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38CD3E3-6DD5-AF6E-86E2-9896204D9915}"/>
              </a:ext>
            </a:extLst>
          </p:cNvPr>
          <p:cNvSpPr txBox="1"/>
          <p:nvPr/>
        </p:nvSpPr>
        <p:spPr>
          <a:xfrm>
            <a:off x="3328710" y="3950704"/>
            <a:ext cx="3368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optical character recognition</a:t>
            </a:r>
          </a:p>
        </p:txBody>
      </p:sp>
      <p:pic>
        <p:nvPicPr>
          <p:cNvPr id="23" name="Picture 22" descr="A red car on a yellow platform&#10;&#10;Description automatically generated">
            <a:extLst>
              <a:ext uri="{FF2B5EF4-FFF2-40B4-BE49-F238E27FC236}">
                <a16:creationId xmlns:a16="http://schemas.microsoft.com/office/drawing/2014/main" id="{C4E8421F-F339-918D-7023-D3389646B5F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8710" y="4274338"/>
            <a:ext cx="3255433" cy="1627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6137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8501F-E730-1538-3B8A-CF9308EFC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Image Processing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983AE0-DE24-6AAC-A09B-2FA857640A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transformations from image to image</a:t>
            </a:r>
          </a:p>
          <a:p>
            <a:pPr marL="0" indent="0">
              <a:buNone/>
            </a:pPr>
            <a:r>
              <a:rPr lang="de-DE" dirty="0"/>
              <a:t>(such as scaling, smoothing, sharpening, or contrast stretching)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to facilitate either machine perception or just human interpretation</a:t>
            </a:r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4B3CCE-156D-72BD-3B48-ECC0352A8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  <p:pic>
        <p:nvPicPr>
          <p:cNvPr id="5" name="Picture 4" descr="A collage of a person with his tongue out&#10;&#10;Description automatically generated">
            <a:extLst>
              <a:ext uri="{FF2B5EF4-FFF2-40B4-BE49-F238E27FC236}">
                <a16:creationId xmlns:a16="http://schemas.microsoft.com/office/drawing/2014/main" id="{E3FDD497-3524-63D6-A651-21085D776D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0811" y="2882287"/>
            <a:ext cx="3509590" cy="1950889"/>
          </a:xfrm>
          <a:prstGeom prst="rect">
            <a:avLst/>
          </a:prstGeom>
        </p:spPr>
      </p:pic>
      <p:pic>
        <p:nvPicPr>
          <p:cNvPr id="7" name="Picture 6" descr="A close-up of a pile of coffee beans&#10;&#10;AI-generated content may be incorrect.">
            <a:extLst>
              <a:ext uri="{FF2B5EF4-FFF2-40B4-BE49-F238E27FC236}">
                <a16:creationId xmlns:a16="http://schemas.microsoft.com/office/drawing/2014/main" id="{2E515060-A076-DAAC-B199-1ABC428566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6484" y="2882287"/>
            <a:ext cx="1973751" cy="1950889"/>
          </a:xfrm>
          <a:prstGeom prst="rect">
            <a:avLst/>
          </a:prstGeom>
        </p:spPr>
      </p:pic>
      <p:pic>
        <p:nvPicPr>
          <p:cNvPr id="9" name="Picture 8" descr="Close-up of coffee beans&#10;&#10;AI-generated content may be incorrect.">
            <a:extLst>
              <a:ext uri="{FF2B5EF4-FFF2-40B4-BE49-F238E27FC236}">
                <a16:creationId xmlns:a16="http://schemas.microsoft.com/office/drawing/2014/main" id="{6B7DEBF3-AD3A-DDBA-B85B-C21443BFD0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5663" y="2882287"/>
            <a:ext cx="1958141" cy="1950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46028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07385CB-D725-C163-7B63-8CCA18A2E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Image Understanding (Recognition)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857255-8BC3-BACB-9EFD-504686ACE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p:pic>
        <p:nvPicPr>
          <p:cNvPr id="7" name="Picture 6" descr="A screenshot of a car driving on a road&#10;&#10;AI-generated content may be incorrect.">
            <a:extLst>
              <a:ext uri="{FF2B5EF4-FFF2-40B4-BE49-F238E27FC236}">
                <a16:creationId xmlns:a16="http://schemas.microsoft.com/office/drawing/2014/main" id="{69E79427-57FE-4A06-F469-0AA6DEAB42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0943" y="1476531"/>
            <a:ext cx="9290114" cy="5381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99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6F3DDA-AA1C-74F2-B6BC-5D82FAA8EC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90688"/>
            <a:ext cx="5181600" cy="4665662"/>
          </a:xfrm>
          <a:ln>
            <a:noFill/>
          </a:ln>
        </p:spPr>
        <p:txBody>
          <a:bodyPr>
            <a:noAutofit/>
          </a:bodyPr>
          <a:lstStyle/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endParaRPr lang="en-GB" sz="2200" dirty="0"/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2200" dirty="0"/>
              <a:t>Digital Image Processing</a:t>
            </a:r>
            <a:r>
              <a:rPr lang="en-GB" sz="1200" dirty="0"/>
              <a:t> 		 image formation, intensity transformations, compression, spatial filtering, Fourier transform, aliasing, image pyramids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endParaRPr lang="en-GB" sz="2200" dirty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GB" sz="2200" dirty="0"/>
              <a:t>Edges and Features</a:t>
            </a:r>
            <a:r>
              <a:rPr lang="en-GB" sz="1200" dirty="0"/>
              <a:t> 		 Canny &amp; Marr-Hildreth edge detectors, Hough transform, feature detection (Harris corner detector) and description (SIFT), feature matching, eigenfaces</a:t>
            </a:r>
            <a:endParaRPr lang="en-GB" sz="2200" dirty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endParaRPr lang="en-GB" sz="2200" dirty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GB" sz="2200" dirty="0"/>
              <a:t>Projective Geometry</a:t>
            </a:r>
            <a:r>
              <a:rPr lang="en-GB" sz="1200" dirty="0"/>
              <a:t> 		 geometric transformations, image alignment, stereo vision, camera calibration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6CB8FEE-6184-4A56-893A-894FD73784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90688"/>
            <a:ext cx="5181600" cy="4665662"/>
          </a:xfrm>
          <a:ln>
            <a:noFill/>
          </a:ln>
        </p:spPr>
        <p:txBody>
          <a:bodyPr>
            <a:noAutofit/>
          </a:bodyPr>
          <a:lstStyle/>
          <a:p>
            <a:pPr marL="457200" indent="-457200">
              <a:lnSpc>
                <a:spcPct val="100000"/>
              </a:lnSpc>
              <a:buFont typeface="+mj-lt"/>
              <a:buAutoNum type="arabicPeriod" startAt="4"/>
            </a:pPr>
            <a:endParaRPr lang="en-GB" sz="2200" dirty="0"/>
          </a:p>
          <a:p>
            <a:pPr marL="457200" indent="-457200">
              <a:lnSpc>
                <a:spcPct val="100000"/>
              </a:lnSpc>
              <a:buFont typeface="+mj-lt"/>
              <a:buAutoNum type="arabicPeriod" startAt="4"/>
            </a:pPr>
            <a:r>
              <a:rPr lang="en-GB" sz="2200" dirty="0"/>
              <a:t>Image Classification</a:t>
            </a:r>
            <a:r>
              <a:rPr lang="en-GB" sz="1200" dirty="0"/>
              <a:t>	                    supervised learning, linear regression, bias-variance </a:t>
            </a:r>
            <a:r>
              <a:rPr lang="en-GB" sz="1200" dirty="0" err="1"/>
              <a:t>tradeoff</a:t>
            </a:r>
            <a:r>
              <a:rPr lang="en-GB" sz="1200" dirty="0"/>
              <a:t>, neural networks, convolutional neural networks, transfer learning, transformers (language models, </a:t>
            </a:r>
            <a:r>
              <a:rPr lang="en-GB" sz="1200" dirty="0" err="1"/>
              <a:t>ViT</a:t>
            </a:r>
            <a:r>
              <a:rPr lang="en-GB" sz="1200" dirty="0"/>
              <a:t>, DINO, CLIP)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 startAt="4"/>
            </a:pPr>
            <a:endParaRPr lang="en-GB" sz="2200" dirty="0"/>
          </a:p>
          <a:p>
            <a:pPr marL="514350" indent="-514350">
              <a:lnSpc>
                <a:spcPct val="100000"/>
              </a:lnSpc>
              <a:buFont typeface="+mj-lt"/>
              <a:buAutoNum type="arabicPeriod" startAt="4"/>
            </a:pPr>
            <a:r>
              <a:rPr lang="en-GB" sz="2200" dirty="0"/>
              <a:t>Segmentation and Detection</a:t>
            </a:r>
            <a:r>
              <a:rPr lang="en-GB" sz="1200" dirty="0"/>
              <a:t>              semantic segmentation, object detection (R-CNN, YOLO), object tracking, instance segmentation, </a:t>
            </a:r>
            <a:r>
              <a:rPr lang="en-GB" sz="1200" dirty="0" err="1"/>
              <a:t>promptable</a:t>
            </a:r>
            <a:r>
              <a:rPr lang="en-GB" sz="1200" dirty="0"/>
              <a:t> segmentation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 startAt="4"/>
            </a:pPr>
            <a:endParaRPr lang="en-GB" sz="2200" dirty="0"/>
          </a:p>
          <a:p>
            <a:pPr marL="514350" indent="-514350">
              <a:lnSpc>
                <a:spcPct val="100000"/>
              </a:lnSpc>
              <a:buFont typeface="+mj-lt"/>
              <a:buAutoNum type="arabicPeriod" startAt="4"/>
            </a:pPr>
            <a:r>
              <a:rPr lang="en-GB" sz="2200" dirty="0"/>
              <a:t>Image Synthesis</a:t>
            </a:r>
            <a:r>
              <a:rPr lang="en-GB" sz="1200" dirty="0"/>
              <a:t> 		                     generative models, GAN, VAE, diffusion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8E70834-2630-CF53-46B9-4A5595D21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Used Programming Language: Python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C0850-2155-3201-EF3C-EFB7157E61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  <a:p>
            <a:r>
              <a:rPr lang="en-GB" dirty="0"/>
              <a:t>good compromise between rapid prototyping and production</a:t>
            </a:r>
          </a:p>
          <a:p>
            <a:r>
              <a:rPr lang="en-GB" dirty="0"/>
              <a:t>vast ecosystem</a:t>
            </a:r>
          </a:p>
          <a:p>
            <a:r>
              <a:rPr lang="en-GB" dirty="0"/>
              <a:t>very popular for data processing and ML: scientific Python stack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14FD3-2384-341A-0192-D9784F9FF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7</a:t>
            </a:fld>
            <a:endParaRPr lang="en-GB"/>
          </a:p>
        </p:txBody>
      </p:sp>
      <p:pic>
        <p:nvPicPr>
          <p:cNvPr id="8" name="Picture 2" descr="undefined">
            <a:extLst>
              <a:ext uri="{FF2B5EF4-FFF2-40B4-BE49-F238E27FC236}">
                <a16:creationId xmlns:a16="http://schemas.microsoft.com/office/drawing/2014/main" id="{558D5A92-0B5B-7717-CB3F-2D03E1B522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9950" y="86276"/>
            <a:ext cx="1667700" cy="18271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undefined">
            <a:extLst>
              <a:ext uri="{FF2B5EF4-FFF2-40B4-BE49-F238E27FC236}">
                <a16:creationId xmlns:a16="http://schemas.microsoft.com/office/drawing/2014/main" id="{36547C17-E21D-FBD0-2391-DA367A29E0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4342507"/>
            <a:ext cx="3394103" cy="1527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8" descr="undefined">
            <a:extLst>
              <a:ext uri="{FF2B5EF4-FFF2-40B4-BE49-F238E27FC236}">
                <a16:creationId xmlns:a16="http://schemas.microsoft.com/office/drawing/2014/main" id="{2F91ED10-6934-AB74-9C86-B13644E900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1199" y="4342507"/>
            <a:ext cx="3230880" cy="1305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 descr="undefined">
            <a:extLst>
              <a:ext uri="{FF2B5EF4-FFF2-40B4-BE49-F238E27FC236}">
                <a16:creationId xmlns:a16="http://schemas.microsoft.com/office/drawing/2014/main" id="{2EF0CA0C-5B15-EA29-7463-7C51B00F0F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0975" y="4342507"/>
            <a:ext cx="2075592" cy="1117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6" descr="undefined">
            <a:extLst>
              <a:ext uri="{FF2B5EF4-FFF2-40B4-BE49-F238E27FC236}">
                <a16:creationId xmlns:a16="http://schemas.microsoft.com/office/drawing/2014/main" id="{F1B7597C-6369-5514-7976-9E48A1316F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3805" y="5809212"/>
            <a:ext cx="2984390" cy="547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27205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F9571-C6ED-CFC8-29FD-1B24BD4B2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Used Python Libraries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BBB58C-563A-AD3B-2A93-23C918781FC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GB" b="1" dirty="0"/>
              <a:t>computer vision: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D7DF3A1-48C2-8A99-A46A-DED1F4ED5BA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GB" b="1" dirty="0"/>
              <a:t>deep learning: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5B97E4-48D3-5CA3-B6B2-3BC5DD716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8</a:t>
            </a:fld>
            <a:endParaRPr lang="en-GB"/>
          </a:p>
        </p:txBody>
      </p:sp>
      <p:pic>
        <p:nvPicPr>
          <p:cNvPr id="5" name="Picture 2" descr="PyTorch is evolving fast. Listen to this podcast to find out how!">
            <a:extLst>
              <a:ext uri="{FF2B5EF4-FFF2-40B4-BE49-F238E27FC236}">
                <a16:creationId xmlns:a16="http://schemas.microsoft.com/office/drawing/2014/main" id="{FD58764D-2B67-728C-787A-C6B642EBCF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4647" y="2719363"/>
            <a:ext cx="3701716" cy="789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Machine Learning in the Browser using TensorFlow.js | by Suraj Parmar ...">
            <a:extLst>
              <a:ext uri="{FF2B5EF4-FFF2-40B4-BE49-F238E27FC236}">
                <a16:creationId xmlns:a16="http://schemas.microsoft.com/office/drawing/2014/main" id="{9C0D363E-EF7C-EEF1-BD05-D7980098DD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3194" y="4364079"/>
            <a:ext cx="3284621" cy="11021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F8A9556-CB38-5619-CC52-7BD00B11B476}"/>
              </a:ext>
            </a:extLst>
          </p:cNvPr>
          <p:cNvSpPr/>
          <p:nvPr/>
        </p:nvSpPr>
        <p:spPr>
          <a:xfrm>
            <a:off x="7104647" y="2575065"/>
            <a:ext cx="3701716" cy="1078275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6772F38-26BF-8A94-8631-751A406D153E}"/>
              </a:ext>
            </a:extLst>
          </p:cNvPr>
          <p:cNvSpPr/>
          <p:nvPr/>
        </p:nvSpPr>
        <p:spPr>
          <a:xfrm>
            <a:off x="2171700" y="2334886"/>
            <a:ext cx="2514600" cy="2188229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D6FB989F-F436-74B9-405A-7294609108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4194" y="2429686"/>
            <a:ext cx="1509612" cy="1998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mage analysis made easy with Scikit Image! (part 1) - Nicola Romanò">
            <a:extLst>
              <a:ext uri="{FF2B5EF4-FFF2-40B4-BE49-F238E27FC236}">
                <a16:creationId xmlns:a16="http://schemas.microsoft.com/office/drawing/2014/main" id="{78D57E94-E485-4288-6FCE-568DF7CFD6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1700" y="4915151"/>
            <a:ext cx="2514601" cy="1508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447958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931D7-F116-6FF9-9B2A-660AE0271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Programming 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2A4C1-FFFD-3C44-E2CA-D30093EF7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locally, best use</a:t>
            </a:r>
          </a:p>
          <a:p>
            <a:r>
              <a:rPr lang="en-GB" dirty="0"/>
              <a:t>a virtual environment to flexibly install packages (e.g., </a:t>
            </a:r>
            <a:r>
              <a:rPr lang="en-GB" dirty="0" err="1">
                <a:hlinkClick r:id="rId2"/>
              </a:rPr>
              <a:t>venv</a:t>
            </a:r>
            <a:r>
              <a:rPr lang="en-GB" dirty="0"/>
              <a:t>)</a:t>
            </a:r>
          </a:p>
          <a:p>
            <a:r>
              <a:rPr lang="en-GB" dirty="0"/>
              <a:t>an IDE of your choice (e.g., </a:t>
            </a:r>
            <a:r>
              <a:rPr lang="en-GB" dirty="0">
                <a:hlinkClick r:id="rId3"/>
              </a:rPr>
              <a:t>VS Code</a:t>
            </a:r>
            <a:r>
              <a:rPr lang="en-GB" dirty="0"/>
              <a:t>)</a:t>
            </a:r>
          </a:p>
          <a:p>
            <a:r>
              <a:rPr lang="en-GB" dirty="0"/>
              <a:t>both plain Python files or </a:t>
            </a:r>
            <a:r>
              <a:rPr lang="en-GB" dirty="0" err="1">
                <a:hlinkClick r:id="rId4"/>
              </a:rPr>
              <a:t>Jupyter</a:t>
            </a:r>
            <a:r>
              <a:rPr lang="en-GB" dirty="0">
                <a:hlinkClick r:id="rId4"/>
              </a:rPr>
              <a:t> notebooks</a:t>
            </a:r>
            <a:r>
              <a:rPr lang="en-GB" dirty="0"/>
              <a:t> are fine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but cloud-based environments also fine (e.g., </a:t>
            </a:r>
            <a:r>
              <a:rPr lang="en-GB" dirty="0">
                <a:hlinkClick r:id="rId5"/>
              </a:rPr>
              <a:t>Google </a:t>
            </a:r>
            <a:r>
              <a:rPr lang="en-GB" dirty="0" err="1">
                <a:hlinkClick r:id="rId5"/>
              </a:rPr>
              <a:t>Colab</a:t>
            </a:r>
            <a:r>
              <a:rPr lang="en-GB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EB8C7-7F0B-BA44-36D2-4511056C6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37282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9DE35-6DC5-4B43-A28D-7DF616D39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Literature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AFC3B-A5E8-E02B-3B57-552EF4E575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hlinkClick r:id="rId2"/>
              </a:rPr>
              <a:t>Computer Vision: Algorithms and Applications</a:t>
            </a:r>
            <a:endParaRPr lang="en-GB" dirty="0"/>
          </a:p>
          <a:p>
            <a:r>
              <a:rPr lang="en-GB" dirty="0"/>
              <a:t>Digital Image Processing, Gonzales </a:t>
            </a:r>
            <a:r>
              <a:rPr lang="en-GB"/>
              <a:t>&amp; Woods</a:t>
            </a: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>
                <a:hlinkClick r:id="rId3"/>
              </a:rPr>
              <a:t>Deep Learning</a:t>
            </a:r>
            <a:endParaRPr lang="en-GB" dirty="0"/>
          </a:p>
          <a:p>
            <a:r>
              <a:rPr lang="en-GB" dirty="0">
                <a:hlinkClick r:id="rId4"/>
              </a:rPr>
              <a:t>The Little Book of Deep Learning</a:t>
            </a:r>
            <a:endParaRPr lang="en-GB" dirty="0"/>
          </a:p>
          <a:p>
            <a:r>
              <a:rPr lang="en-GB" dirty="0">
                <a:hlinkClick r:id="rId5"/>
              </a:rPr>
              <a:t>Understanding Deep Learning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038C66-2088-1B70-03A1-D7C86EDA2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36832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371</Words>
  <Application>Microsoft Macintosh PowerPoint</Application>
  <PresentationFormat>Breitbild</PresentationFormat>
  <Paragraphs>71</Paragraphs>
  <Slides>10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Introduction</vt:lpstr>
      <vt:lpstr>Goal of Computer Vision</vt:lpstr>
      <vt:lpstr>Applications of Computer Vision</vt:lpstr>
      <vt:lpstr>Image Processing</vt:lpstr>
      <vt:lpstr>Image Understanding (Recognition)</vt:lpstr>
      <vt:lpstr>Course Schedule</vt:lpstr>
      <vt:lpstr>Used Programming Language: Python</vt:lpstr>
      <vt:lpstr>Used Python Libraries</vt:lpstr>
      <vt:lpstr>Programming Environments</vt:lpstr>
      <vt:lpstr>Literature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32</cp:revision>
  <dcterms:created xsi:type="dcterms:W3CDTF">2025-01-08T09:27:30Z</dcterms:created>
  <dcterms:modified xsi:type="dcterms:W3CDTF">2026-08-11T13:45:55Z</dcterms:modified>
</cp:coreProperties>
</file>